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869680" y="640080"/>
            <a:ext cx="2377440" cy="1097280"/>
          </a:xfrm>
          <a:prstGeom prst="round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875520" y="2011680"/>
            <a:ext cx="1463040" cy="182880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38160" y="4023360"/>
            <a:ext cx="2286000" cy="1188720"/>
          </a:xfrm>
          <a:prstGeom prst="roundRect">
            <a:avLst/>
          </a:prstGeom>
          <a:solidFill>
            <a:srgbClr val="E6A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406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E-COMMERCE</a:t>
            </a:r>
          </a:p>
          <a:p>
            <a:pPr>
              <a:spcAft>
                <a:spcPts val="6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SALES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D0DEEE"/>
                </a:solidFill>
                <a:latin typeface="Aptos"/>
              </a:defRPr>
            </a:pPr>
            <a:r>
              <a:t>Data Science Internship • Week 1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49039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Data cleaning  |  Sales KPIs  |  Customer insights  |  Visualization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06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Prepared by: Mayur Wagh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62B4C"/>
                </a:solidFill>
                <a:latin typeface="Aptos"/>
              </a:defRPr>
            </a:pPr>
            <a:r>
              <a:t>1. 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105156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F6C7C"/>
                </a:solidFill>
                <a:latin typeface="Aptos"/>
              </a:defRPr>
            </a:pPr>
            <a:r>
              <a:t>Purpose and scope of the Week 1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492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2D3748"/>
                </a:solidFill>
                <a:latin typeface="Aptos"/>
              </a:defRPr>
            </a:pPr>
            <a:r>
              <a:t>•  Clean and validate a raw e-commerce dataset.</a:t>
            </a:r>
          </a:p>
          <a:p>
            <a:pPr>
              <a:spcAft>
                <a:spcPts val="600"/>
              </a:spcAft>
              <a:defRPr sz="1900" b="0">
                <a:solidFill>
                  <a:srgbClr val="2D3748"/>
                </a:solidFill>
                <a:latin typeface="Aptos"/>
              </a:defRPr>
            </a:pPr>
            <a:r>
              <a:t>•  Calculate core sales KPIs and compare category performance.</a:t>
            </a:r>
          </a:p>
          <a:p>
            <a:pPr>
              <a:spcAft>
                <a:spcPts val="600"/>
              </a:spcAft>
              <a:defRPr sz="1900" b="0">
                <a:solidFill>
                  <a:srgbClr val="2D3748"/>
                </a:solidFill>
                <a:latin typeface="Aptos"/>
              </a:defRPr>
            </a:pPr>
            <a:r>
              <a:t>•  Analyze monthly sales, customers, and city-level revenue.</a:t>
            </a:r>
          </a:p>
          <a:p>
            <a:pPr>
              <a:spcAft>
                <a:spcPts val="600"/>
              </a:spcAft>
              <a:defRPr sz="1900" b="0">
                <a:solidFill>
                  <a:srgbClr val="2D3748"/>
                </a:solidFill>
                <a:latin typeface="Aptos"/>
              </a:defRPr>
            </a:pPr>
            <a:r>
              <a:t>•  Create visualizations and summarize findings for business 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82880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863840" y="1828800"/>
            <a:ext cx="73152" cy="114300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9" y="195681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F6C7C"/>
                </a:solidFill>
                <a:latin typeface="Aptos"/>
              </a:defRPr>
            </a:pPr>
            <a:r>
              <a:t>ORIGINAL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9" y="230428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62B4C"/>
                </a:solidFill>
                <a:latin typeface="Aptos"/>
              </a:defRPr>
            </a:pPr>
            <a:r>
              <a:t>1,010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24612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63840" y="3246120"/>
            <a:ext cx="73152" cy="1143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9" y="33741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F6C7C"/>
                </a:solidFill>
                <a:latin typeface="Aptos"/>
              </a:defRPr>
            </a:pPr>
            <a:r>
              <a:t>DATA FIELDS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372160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62B4C"/>
                </a:solidFill>
                <a:latin typeface="Aptos"/>
              </a:defRPr>
            </a:pPr>
            <a:r>
              <a:t>11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470916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F6C7C"/>
                </a:solidFill>
                <a:latin typeface="Aptos"/>
              </a:defRPr>
            </a:pPr>
            <a:r>
              <a:t>Fields include order, customer, product, quantity, price, date, payment, delivery status, and city.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Data Science Internship • Week 1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62B4C"/>
                </a:solidFill>
                <a:latin typeface="Aptos"/>
              </a:defRPr>
            </a:pPr>
            <a:r>
              <a:t>2. Analysis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105156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F6C7C"/>
                </a:solidFill>
                <a:latin typeface="Aptos"/>
              </a:defRPr>
            </a:pPr>
            <a:r>
              <a:t>A structured, reproducible data-analysis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897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2B4C"/>
                </a:solidFill>
                <a:latin typeface="Aptos"/>
              </a:defRPr>
            </a:pPr>
            <a:r>
              <a:t>Load &amp; inspect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F6C7C"/>
                </a:solidFill>
                <a:latin typeface="Aptos"/>
              </a:defRPr>
            </a:pPr>
            <a:r>
              <a:t>Rows, columns, types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288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196596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897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2B4C"/>
                </a:solidFill>
                <a:latin typeface="Aptos"/>
              </a:defRPr>
            </a:pPr>
            <a:r>
              <a:t>Clean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14600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F6C7C"/>
                </a:solidFill>
                <a:latin typeface="Aptos"/>
              </a:defRPr>
            </a:pPr>
            <a:r>
              <a:t>Missing, duplicates, invalid values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8288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0" y="196596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897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2B4C"/>
                </a:solidFill>
                <a:latin typeface="Aptos"/>
              </a:defRPr>
            </a:pPr>
            <a:r>
              <a:t>Calculate 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514600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F6C7C"/>
                </a:solidFill>
                <a:latin typeface="Aptos"/>
              </a:defRPr>
            </a:pPr>
            <a:r>
              <a:t>Revenue, orders, units, AOV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9476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897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2B4C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80560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F6C7C"/>
                </a:solidFill>
                <a:latin typeface="Aptos"/>
              </a:defRPr>
            </a:pPr>
            <a:r>
              <a:t>Time, category, customer, city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79476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60" y="393192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897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2B4C"/>
                </a:solidFill>
                <a:latin typeface="Aptos"/>
              </a:defRPr>
            </a:pPr>
            <a:r>
              <a:t>Visualize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480560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F6C7C"/>
                </a:solidFill>
                <a:latin typeface="Aptos"/>
              </a:defRPr>
            </a:pPr>
            <a:r>
              <a:t>Bar, line, pie, dashboard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79476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0" y="393192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897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2B4C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480560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F6C7C"/>
                </a:solidFill>
                <a:latin typeface="Aptos"/>
              </a:defRPr>
            </a:pPr>
            <a:r>
              <a:t>Findings, recommendations, limits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Data Science Internship • Week 1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62B4C"/>
                </a:solidFill>
                <a:latin typeface="Aptos"/>
              </a:defRPr>
            </a:pPr>
            <a:r>
              <a:t>3. Data Cleaning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105156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F6C7C"/>
                </a:solidFill>
                <a:latin typeface="Aptos"/>
              </a:defRPr>
            </a:pPr>
            <a:r>
              <a:t>Cleaning actions used before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D3748"/>
                </a:solidFill>
                <a:latin typeface="Aptos"/>
              </a:defRPr>
            </a:pPr>
            <a:r>
              <a:t>•  Inspected missing values and documented affected fields.</a:t>
            </a:r>
          </a:p>
          <a:p>
            <a:pPr>
              <a:spcAft>
                <a:spcPts val="600"/>
              </a:spcAft>
              <a:defRPr sz="1700" b="0">
                <a:solidFill>
                  <a:srgbClr val="2D3748"/>
                </a:solidFill>
                <a:latin typeface="Aptos"/>
              </a:defRPr>
            </a:pPr>
            <a:r>
              <a:t>•  Removed confirmed duplicate rows while keeping raw data unchanged.</a:t>
            </a:r>
          </a:p>
          <a:p>
            <a:pPr>
              <a:spcAft>
                <a:spcPts val="600"/>
              </a:spcAft>
              <a:defRPr sz="1700" b="0">
                <a:solidFill>
                  <a:srgbClr val="2D3748"/>
                </a:solidFill>
                <a:latin typeface="Aptos"/>
              </a:defRPr>
            </a:pPr>
            <a:r>
              <a:t>•  Standardized column names and category/status text.</a:t>
            </a:r>
          </a:p>
          <a:p>
            <a:pPr>
              <a:spcAft>
                <a:spcPts val="600"/>
              </a:spcAft>
              <a:defRPr sz="1700" b="0">
                <a:solidFill>
                  <a:srgbClr val="2D3748"/>
                </a:solidFill>
                <a:latin typeface="Aptos"/>
              </a:defRPr>
            </a:pPr>
            <a:r>
              <a:t>•  Handled missing categorical/customer values with an “Unknown” label.</a:t>
            </a:r>
          </a:p>
          <a:p>
            <a:pPr>
              <a:spcAft>
                <a:spcPts val="600"/>
              </a:spcAft>
              <a:defRPr sz="1700" b="0">
                <a:solidFill>
                  <a:srgbClr val="2D3748"/>
                </a:solidFill>
                <a:latin typeface="Aptos"/>
              </a:defRPr>
            </a:pPr>
            <a:r>
              <a:t>•  Excluded invalid dates, non-positive quantities, and non-positive unit prices.</a:t>
            </a:r>
          </a:p>
          <a:p>
            <a:pPr>
              <a:spcAft>
                <a:spcPts val="600"/>
              </a:spcAft>
              <a:defRPr sz="1700" b="0">
                <a:solidFill>
                  <a:srgbClr val="2D3748"/>
                </a:solidFill>
                <a:latin typeface="Aptos"/>
              </a:defRPr>
            </a:pPr>
            <a:r>
              <a:t>•  Recalculated Total Amount as Quantity × Unit Price.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5F6C7C"/>
                </a:solidFill>
                <a:latin typeface="Aptos"/>
              </a:defRPr>
            </a:pPr>
            <a:r>
              <a:t>Review the final cleaned row count and cleaning logs in the notebook before submitting.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Data Science Internship • Week 1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62B4C"/>
                </a:solidFill>
                <a:latin typeface="Aptos"/>
              </a:defRPr>
            </a:pPr>
            <a:r>
              <a:t>4. Sales KPI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105156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F6C7C"/>
                </a:solidFill>
                <a:latin typeface="Aptos"/>
              </a:defRPr>
            </a:pPr>
            <a:r>
              <a:t>Replace placeholders with exact outputs from Step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73152" cy="1143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6537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F6C7C"/>
                </a:solidFill>
                <a:latin typeface="Aptos"/>
              </a:defRPr>
            </a:pPr>
            <a:r>
              <a:t>TOTAL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62B4C"/>
                </a:solidFill>
                <a:latin typeface="Aptos"/>
              </a:defRPr>
            </a:pPr>
            <a:r>
              <a:t>Run notebook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73736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0" y="1737360"/>
            <a:ext cx="73152" cy="114300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86537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F6C7C"/>
                </a:solidFill>
                <a:latin typeface="Aptos"/>
              </a:defRPr>
            </a:pPr>
            <a:r>
              <a:t>TOTAL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1284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62B4C"/>
                </a:solidFill>
                <a:latin typeface="Aptos"/>
              </a:defRPr>
            </a:pPr>
            <a:r>
              <a:t>Run notebook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73736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21040" y="1737360"/>
            <a:ext cx="73152" cy="1143000"/>
          </a:xfrm>
          <a:prstGeom prst="rect">
            <a:avLst/>
          </a:prstGeom>
          <a:solidFill>
            <a:srgbClr val="E6A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19" y="186537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F6C7C"/>
                </a:solidFill>
                <a:latin typeface="Aptos"/>
              </a:defRPr>
            </a:pPr>
            <a:r>
              <a:t>AVERAGE ORDER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221284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62B4C"/>
                </a:solidFill>
                <a:latin typeface="Aptos"/>
              </a:defRPr>
            </a:pPr>
            <a:r>
              <a:t>Run notebook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33756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3337560"/>
            <a:ext cx="73152" cy="1143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46557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F6C7C"/>
                </a:solidFill>
                <a:latin typeface="Aptos"/>
              </a:defRPr>
            </a:pPr>
            <a:r>
              <a:t>TOTAL UNITS SOLD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1304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62B4C"/>
                </a:solidFill>
                <a:latin typeface="Aptos"/>
              </a:defRPr>
            </a:pPr>
            <a:r>
              <a:t>Run notebook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33756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0" y="3337560"/>
            <a:ext cx="73152" cy="114300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0" y="346557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F6C7C"/>
                </a:solidFill>
                <a:latin typeface="Aptos"/>
              </a:defRPr>
            </a:pPr>
            <a:r>
              <a:t>TOP CATEGORY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81304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62B4C"/>
                </a:solidFill>
                <a:latin typeface="Aptos"/>
              </a:defRPr>
            </a:pPr>
            <a:r>
              <a:t>Run notebook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33756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21040" y="3337560"/>
            <a:ext cx="73152" cy="1143000"/>
          </a:xfrm>
          <a:prstGeom prst="rect">
            <a:avLst/>
          </a:prstGeom>
          <a:solidFill>
            <a:srgbClr val="E6A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19" y="346557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F6C7C"/>
                </a:solidFill>
                <a:latin typeface="Aptos"/>
              </a:defRPr>
            </a:pPr>
            <a:r>
              <a:t>TOP REVENUE PRODUCT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9" y="381304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62B4C"/>
                </a:solidFill>
                <a:latin typeface="Aptos"/>
              </a:defRPr>
            </a:pPr>
            <a:r>
              <a:t>Run notebook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44068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5F6C7C"/>
                </a:solidFill>
                <a:latin typeface="Aptos"/>
              </a:defRPr>
            </a:pPr>
            <a:r>
              <a:t>Use the exact KPI values printed by your notebook to keep this presentation accurate.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Data Science Internship • Week 1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62B4C"/>
                </a:solidFill>
                <a:latin typeface="Aptos"/>
              </a:defRPr>
            </a:pPr>
            <a:r>
              <a:t>5. Sales Trends &amp; Category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105156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F6C7C"/>
                </a:solidFill>
                <a:latin typeface="Aptos"/>
              </a:defRPr>
            </a:pPr>
            <a:r>
              <a:t>Use monthly_sales_analysis.csv and category_performance.csv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675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D3748"/>
                </a:solidFill>
                <a:latin typeface="Aptos"/>
              </a:defRPr>
            </a:pPr>
            <a:r>
              <a:t>•  Monthly trend: identify the highest- and lowest-revenue months.</a:t>
            </a:r>
          </a:p>
          <a:p>
            <a:pPr>
              <a:spcAft>
                <a:spcPts val="600"/>
              </a:spcAft>
              <a:defRPr sz="1800" b="0">
                <a:solidFill>
                  <a:srgbClr val="2D3748"/>
                </a:solidFill>
                <a:latin typeface="Aptos"/>
              </a:defRPr>
            </a:pPr>
            <a:r>
              <a:t>•  Growth: compare month-over-month revenue changes.</a:t>
            </a:r>
          </a:p>
          <a:p>
            <a:pPr>
              <a:spcAft>
                <a:spcPts val="600"/>
              </a:spcAft>
              <a:defRPr sz="1800" b="0">
                <a:solidFill>
                  <a:srgbClr val="2D3748"/>
                </a:solidFill>
                <a:latin typeface="Aptos"/>
              </a:defRPr>
            </a:pPr>
            <a:r>
              <a:t>•  Category analysis: compare revenue, order count, units sold, and revenue share.</a:t>
            </a:r>
          </a:p>
          <a:p>
            <a:pPr>
              <a:spcAft>
                <a:spcPts val="600"/>
              </a:spcAft>
              <a:defRPr sz="1800" b="0">
                <a:solidFill>
                  <a:srgbClr val="2D3748"/>
                </a:solidFill>
                <a:latin typeface="Aptos"/>
              </a:defRPr>
            </a:pPr>
            <a:r>
              <a:t>•  Describe what the data shows; avoid claiming causes without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920240"/>
            <a:ext cx="3108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46720" y="1920240"/>
            <a:ext cx="73152" cy="114300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204825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F6C7C"/>
                </a:solidFill>
                <a:latin typeface="Aptos"/>
              </a:defRPr>
            </a:pPr>
            <a:r>
              <a:t>REQUIRED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39572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62B4C"/>
                </a:solidFill>
                <a:latin typeface="Aptos"/>
              </a:defRPr>
            </a:pPr>
            <a:r>
              <a:t>Monthly line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429000"/>
            <a:ext cx="3108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3429000"/>
            <a:ext cx="73152" cy="1143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355701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F6C7C"/>
                </a:solidFill>
                <a:latin typeface="Aptos"/>
              </a:defRPr>
            </a:pPr>
            <a:r>
              <a:t>REQUIRED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904487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62B4C"/>
                </a:solidFill>
                <a:latin typeface="Aptos"/>
              </a:defRPr>
            </a:pPr>
            <a:r>
              <a:t>Category bar chart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Data Science Internship • Week 1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62B4C"/>
                </a:solidFill>
                <a:latin typeface="Aptos"/>
              </a:defRPr>
            </a:pPr>
            <a:r>
              <a:t>6. Customer &amp; City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105156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F6C7C"/>
                </a:solidFill>
                <a:latin typeface="Aptos"/>
              </a:defRPr>
            </a:pPr>
            <a:r>
              <a:t>Results supplied from the customer-analysis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73152" cy="12344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6537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F6C7C"/>
                </a:solidFill>
                <a:latin typeface="Aptos"/>
              </a:defRPr>
            </a:pPr>
            <a:r>
              <a:t>TOP REVENUE 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62B4C"/>
                </a:solidFill>
                <a:latin typeface="Aptos"/>
              </a:defRPr>
            </a:pPr>
            <a:r>
              <a:t>Aurangabad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3736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737360"/>
            <a:ext cx="73152" cy="1234440"/>
          </a:xfrm>
          <a:prstGeom prst="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86537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F6C7C"/>
                </a:solidFill>
                <a:latin typeface="Aptos"/>
              </a:defRPr>
            </a:pPr>
            <a:r>
              <a:t>CITY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1284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62B4C"/>
                </a:solidFill>
                <a:latin typeface="Aptos"/>
              </a:defRPr>
            </a:pPr>
            <a:r>
              <a:t>₹3,414,481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73736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737360"/>
            <a:ext cx="73152" cy="1234440"/>
          </a:xfrm>
          <a:prstGeom prst="rect">
            <a:avLst/>
          </a:prstGeom>
          <a:solidFill>
            <a:srgbClr val="E6A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86537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F6C7C"/>
                </a:solidFill>
                <a:latin typeface="Aptos"/>
              </a:defRPr>
            </a:pPr>
            <a:r>
              <a:t>REPEAT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1284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62B4C"/>
                </a:solidFill>
                <a:latin typeface="Aptos"/>
              </a:defRPr>
            </a:pPr>
            <a:r>
              <a:t>264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3520440"/>
            <a:ext cx="6675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0" y="3520440"/>
            <a:ext cx="73152" cy="13258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26080" y="364845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F6C7C"/>
                </a:solidFill>
                <a:latin typeface="Aptos"/>
              </a:defRPr>
            </a:pPr>
            <a:r>
              <a:t>REPEAT-CUSTOMER REVENUE SHARE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99592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62B4C"/>
                </a:solidFill>
                <a:latin typeface="Aptos"/>
              </a:defRPr>
            </a:pPr>
            <a:r>
              <a:t>97.91%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212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D3748"/>
                </a:solidFill>
                <a:latin typeface="Aptos"/>
              </a:defRPr>
            </a:pPr>
            <a:r>
              <a:t>Interpretation: repeat customers account for a very large share of revenue in this dataset. Validate customer-ID handling and order definitions before drawing broader conclusions.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Data Science Internship • Week 1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62B4C"/>
                </a:solidFill>
                <a:latin typeface="Aptos"/>
              </a:defRPr>
            </a:pPr>
            <a:r>
              <a:t>7. Required Visualizations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105156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F6C7C"/>
                </a:solidFill>
                <a:latin typeface="Aptos"/>
              </a:defRPr>
            </a:pPr>
            <a:r>
              <a:t>Three chart types plus the dashboard mockup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10424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105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897B"/>
                </a:solidFill>
                <a:latin typeface="Aptos"/>
              </a:defRPr>
            </a:pPr>
            <a:r>
              <a:t>BAR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7393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62B4C"/>
                </a:solidFill>
                <a:latin typeface="Aptos"/>
              </a:defRPr>
            </a:pPr>
            <a:r>
              <a:t>Revenue by product 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773936"/>
            <a:ext cx="4069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F6C7C"/>
                </a:solidFill>
                <a:latin typeface="Aptos"/>
              </a:defRPr>
            </a:pPr>
            <a:r>
              <a:t>Compare category performance.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743200"/>
            <a:ext cx="10424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9077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897B"/>
                </a:solidFill>
                <a:latin typeface="Aptos"/>
              </a:defRPr>
            </a:pPr>
            <a:r>
              <a:t>LINE 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87121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62B4C"/>
                </a:solidFill>
                <a:latin typeface="Aptos"/>
              </a:defRPr>
            </a:pPr>
            <a:r>
              <a:t>Monthly sales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871216"/>
            <a:ext cx="4069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F6C7C"/>
                </a:solidFill>
                <a:latin typeface="Aptos"/>
              </a:defRPr>
            </a:pPr>
            <a:r>
              <a:t>Show change over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840480"/>
            <a:ext cx="10424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0050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897B"/>
                </a:solidFill>
                <a:latin typeface="Aptos"/>
              </a:defRPr>
            </a:pPr>
            <a:r>
              <a:t>PIE CHART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96849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62B4C"/>
                </a:solidFill>
                <a:latin typeface="Aptos"/>
              </a:defRPr>
            </a:pPr>
            <a:r>
              <a:t>Revenue contribution by 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968496"/>
            <a:ext cx="4069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F6C7C"/>
                </a:solidFill>
                <a:latin typeface="Aptos"/>
              </a:defRPr>
            </a:pPr>
            <a:r>
              <a:t>Show category share of total.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937759"/>
            <a:ext cx="10424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510235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897B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065775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62B4C"/>
                </a:solidFill>
                <a:latin typeface="Aptos"/>
              </a:defRPr>
            </a:pPr>
            <a:r>
              <a:t>KPI + category + monthly + city charts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5065775"/>
            <a:ext cx="4069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F6C7C"/>
                </a:solidFill>
                <a:latin typeface="Aptos"/>
              </a:defRPr>
            </a:pPr>
            <a:r>
              <a:t>Provide a one-page overview.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Data Science Internship • Week 1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62B4C"/>
                </a:solidFill>
                <a:latin typeface="Aptos"/>
              </a:defRPr>
            </a:pPr>
            <a:r>
              <a:t>8. Key Findings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105156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F6C7C"/>
                </a:solidFill>
                <a:latin typeface="Aptos"/>
              </a:defRPr>
            </a:pPr>
            <a:r>
              <a:t>Turn analysis into practical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897B"/>
                </a:solidFill>
                <a:latin typeface="Aptos"/>
              </a:defRPr>
            </a:pPr>
            <a: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D3748"/>
                </a:solidFill>
                <a:latin typeface="Aptos"/>
              </a:defRPr>
            </a:pPr>
            <a:r>
              <a:t>•  Aurangabad is the top revenue-generating city in the provided results.</a:t>
            </a:r>
          </a:p>
          <a:p>
            <a:pPr>
              <a:spcAft>
                <a:spcPts val="600"/>
              </a:spcAft>
              <a:defRPr sz="1600" b="0">
                <a:solidFill>
                  <a:srgbClr val="2D3748"/>
                </a:solidFill>
                <a:latin typeface="Aptos"/>
              </a:defRPr>
            </a:pPr>
            <a:r>
              <a:t>•  Repeat-customer revenue share is 97.91% in the current analysis.</a:t>
            </a:r>
          </a:p>
          <a:p>
            <a:pPr>
              <a:spcAft>
                <a:spcPts val="600"/>
              </a:spcAft>
              <a:defRPr sz="1600" b="0">
                <a:solidFill>
                  <a:srgbClr val="2D3748"/>
                </a:solidFill>
                <a:latin typeface="Aptos"/>
              </a:defRPr>
            </a:pPr>
            <a:r>
              <a:t>•  Category and monthly charts reveal performance differences.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867B2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D3748"/>
                </a:solidFill>
                <a:latin typeface="Aptos"/>
              </a:defRPr>
            </a:pPr>
            <a:r>
              <a:t>•  Explore retention campaigns for repeat customers.</a:t>
            </a:r>
          </a:p>
          <a:p>
            <a:pPr>
              <a:spcAft>
                <a:spcPts val="600"/>
              </a:spcAft>
              <a:defRPr sz="1600" b="0">
                <a:solidFill>
                  <a:srgbClr val="2D3748"/>
                </a:solidFill>
                <a:latin typeface="Aptos"/>
              </a:defRPr>
            </a:pPr>
            <a:r>
              <a:t>•  Investigate top-performing categories and products.</a:t>
            </a:r>
          </a:p>
          <a:p>
            <a:pPr>
              <a:spcAft>
                <a:spcPts val="600"/>
              </a:spcAft>
              <a:defRPr sz="1600" b="0">
                <a:solidFill>
                  <a:srgbClr val="2D3748"/>
                </a:solidFill>
                <a:latin typeface="Aptos"/>
              </a:defRPr>
            </a:pPr>
            <a:r>
              <a:t>•  Review monthly changes and investigate unusual spikes or drops.</a:t>
            </a:r>
          </a:p>
          <a:p>
            <a:pPr>
              <a:spcAft>
                <a:spcPts val="600"/>
              </a:spcAft>
              <a:defRPr sz="1600" b="0">
                <a:solidFill>
                  <a:srgbClr val="2D3748"/>
                </a:solidFill>
                <a:latin typeface="Aptos"/>
              </a:defRPr>
            </a:pPr>
            <a:r>
              <a:t>•  Use city-level results to guide further market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Data Science Internship • Week 1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62B4C"/>
                </a:solidFill>
                <a:latin typeface="Aptos"/>
              </a:defRPr>
            </a:pPr>
            <a:r>
              <a:t>9. Limitations &amp; Assumptions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105156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F6C7C"/>
                </a:solidFill>
                <a:latin typeface="Aptos"/>
              </a:defRPr>
            </a:pPr>
            <a:r>
              <a:t>Important notes for a credible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D3748"/>
                </a:solidFill>
                <a:latin typeface="Aptos"/>
              </a:defRPr>
            </a:pPr>
            <a:r>
              <a:t>•  Findings depend on the supplied dataset and cleaning rules.</a:t>
            </a:r>
          </a:p>
          <a:p>
            <a:pPr>
              <a:spcAft>
                <a:spcPts val="600"/>
              </a:spcAft>
              <a:defRPr sz="1800" b="0">
                <a:solidFill>
                  <a:srgbClr val="2D3748"/>
                </a:solidFill>
                <a:latin typeface="Aptos"/>
              </a:defRPr>
            </a:pPr>
            <a:r>
              <a:t>•  Missing customer IDs labelled Unknown can affect customer counts and repeat-customer calculations.</a:t>
            </a:r>
          </a:p>
          <a:p>
            <a:pPr>
              <a:spcAft>
                <a:spcPts val="600"/>
              </a:spcAft>
              <a:defRPr sz="1800" b="0">
                <a:solidFill>
                  <a:srgbClr val="2D3748"/>
                </a:solidFill>
                <a:latin typeface="Aptos"/>
              </a:defRPr>
            </a:pPr>
            <a:r>
              <a:t>•  Repeated order IDs need business-rule validation; a repeated ID is not automatically a duplicate transaction.</a:t>
            </a:r>
          </a:p>
          <a:p>
            <a:pPr>
              <a:spcAft>
                <a:spcPts val="600"/>
              </a:spcAft>
              <a:defRPr sz="1800" b="0">
                <a:solidFill>
                  <a:srgbClr val="2D3748"/>
                </a:solidFill>
                <a:latin typeface="Aptos"/>
              </a:defRPr>
            </a:pPr>
            <a:r>
              <a:t>•  Revenue is recalculated using Quantity × Unit Price.</a:t>
            </a:r>
          </a:p>
          <a:p>
            <a:pPr>
              <a:spcAft>
                <a:spcPts val="600"/>
              </a:spcAft>
              <a:defRPr sz="1800" b="0">
                <a:solidFill>
                  <a:srgbClr val="2D3748"/>
                </a:solidFill>
                <a:latin typeface="Aptos"/>
              </a:defRPr>
            </a:pPr>
            <a:r>
              <a:t>•  Observed patterns do not prove why sales changed.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Data Science Internship • Week 1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62B4C"/>
                </a:solidFill>
                <a:latin typeface="Aptos"/>
              </a:defRPr>
            </a:pPr>
            <a:r>
              <a:t>10. Submission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105156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F6C7C"/>
                </a:solidFill>
                <a:latin typeface="Aptos"/>
              </a:defRPr>
            </a:pPr>
            <a:r>
              <a:t>Prepare these files for the GitHub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D3748"/>
                </a:solidFill>
                <a:latin typeface="Aptos"/>
              </a:defRPr>
            </a:pPr>
            <a:r>
              <a:t>•  Raw CSV and cleaned CSV in separate folders.</a:t>
            </a:r>
          </a:p>
          <a:p>
            <a:pPr>
              <a:spcAft>
                <a:spcPts val="600"/>
              </a:spcAft>
              <a:defRPr sz="1700" b="0">
                <a:solidFill>
                  <a:srgbClr val="2D3748"/>
                </a:solidFill>
                <a:latin typeface="Aptos"/>
              </a:defRPr>
            </a:pPr>
            <a:r>
              <a:t>•  Notebook or Python script that runs from top to bottom.</a:t>
            </a:r>
          </a:p>
          <a:p>
            <a:pPr>
              <a:spcAft>
                <a:spcPts val="600"/>
              </a:spcAft>
              <a:defRPr sz="1700" b="0">
                <a:solidFill>
                  <a:srgbClr val="2D3748"/>
                </a:solidFill>
                <a:latin typeface="Aptos"/>
              </a:defRPr>
            </a:pPr>
            <a:r>
              <a:t>•  Missing-values, duplicate, and validation reports.</a:t>
            </a:r>
          </a:p>
          <a:p>
            <a:pPr>
              <a:spcAft>
                <a:spcPts val="600"/>
              </a:spcAft>
              <a:defRPr sz="1700" b="0">
                <a:solidFill>
                  <a:srgbClr val="2D3748"/>
                </a:solidFill>
                <a:latin typeface="Aptos"/>
              </a:defRPr>
            </a:pPr>
            <a:r>
              <a:t>•  KPI summary, monthly trend, category analysis, customer and city analysis.</a:t>
            </a:r>
          </a:p>
          <a:p>
            <a:pPr>
              <a:spcAft>
                <a:spcPts val="600"/>
              </a:spcAft>
              <a:defRPr sz="1700" b="0">
                <a:solidFill>
                  <a:srgbClr val="2D3748"/>
                </a:solidFill>
                <a:latin typeface="Aptos"/>
              </a:defRPr>
            </a:pPr>
            <a:r>
              <a:t>•  Bar, line, and pie chart images plus dashboard mockup.</a:t>
            </a:r>
          </a:p>
          <a:p>
            <a:pPr>
              <a:spcAft>
                <a:spcPts val="600"/>
              </a:spcAft>
              <a:defRPr sz="1700" b="0">
                <a:solidFill>
                  <a:srgbClr val="2D3748"/>
                </a:solidFill>
                <a:latin typeface="Aptos"/>
              </a:defRPr>
            </a:pPr>
            <a:r>
              <a:t>•  Final report and README with project steps and findings.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F6C7C"/>
                </a:solidFill>
                <a:latin typeface="Aptos"/>
              </a:defRPr>
            </a:pPr>
            <a:r>
              <a:t>Data Science Internship • Week 1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777240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D0DEEE"/>
                </a:solidFill>
                <a:latin typeface="Aptos"/>
              </a:defRPr>
            </a:pPr>
            <a:r>
              <a:t>This project demonstrates an end-to-end introductory analytics workflow: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8686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•  Data inspection and cleaning</a:t>
            </a:r>
          </a:p>
          <a:p>
            <a:pPr>
              <a:spcAft>
                <a:spcPts val="6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•  Sales KPI calculation</a:t>
            </a:r>
          </a:p>
          <a:p>
            <a:pPr>
              <a:spcAft>
                <a:spcPts val="6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•  Customer and city analysis</a:t>
            </a:r>
          </a:p>
          <a:p>
            <a:pPr>
              <a:spcAft>
                <a:spcPts val="6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•  Data visualization and dashboard design</a:t>
            </a:r>
          </a:p>
          <a:p>
            <a:pPr>
              <a:spcAft>
                <a:spcPts val="6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•  Business findings, recommendations, and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E6A638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869</Words>
  <Application>Microsoft Office PowerPoint</Application>
  <PresentationFormat>Widescreen</PresentationFormat>
  <Paragraphs>139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Mayur wagh</cp:lastModifiedBy>
  <cp:revision>1</cp:revision>
  <dcterms:created xsi:type="dcterms:W3CDTF">2013-01-27T09:14:16Z</dcterms:created>
  <dcterms:modified xsi:type="dcterms:W3CDTF">2026-10-09T12:19:02Z</dcterms:modified>
  <cp:category/>
</cp:coreProperties>
</file>